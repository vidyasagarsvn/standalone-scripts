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59" r:id="rId4"/>
    <p:sldId id="261" r:id="rId5"/>
    <p:sldId id="258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2659"/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EF08EC-FC52-434E-AD42-3930277B5EC8}" v="7" dt="2026-10-05T08:07:02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9"/>
    <p:restoredTop sz="94635"/>
  </p:normalViewPr>
  <p:slideViewPr>
    <p:cSldViewPr snapToGrid="0">
      <p:cViewPr varScale="1">
        <p:scale>
          <a:sx n="92" d="100"/>
          <a:sy n="92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1596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statement and linked goals:</a:t>
            </a:r>
          </a:p>
          <a:p>
            <a:r>
              <a:t>Problem Statement – The absence of a unified contact journey limits visibility into an individual’s relationship with the organization. Fragmented contact records across accounts and time prevent the consolidation of prior interactions into a single, chronological view, resulting in lost context and incomplete customer insight.</a:t>
            </a:r>
          </a:p>
          <a:p>
            <a:r>
              <a:t>Two Linked Goals</a:t>
            </a:r>
          </a:p>
          <a:p>
            <a:r>
              <a:t>Identify and unify duplicate contact records to establish a single, trusted identity for each individual.</a:t>
            </a:r>
          </a:p>
          <a:p>
            <a:r>
              <a:t>Unlock the full client journey by connecting historical appearances and engagements across accounts into one consolidated, chronological timeline.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Workflow diagram based on the user-provided text on slide 2. Steps 1–6 retain the original method and sequence. Step 1 supplies normalized records for inference, account attributes for classification, and LinkedIn history for corroboration. Only the journey link category continues to Step 6. A corroboration score supports a shared client identity across different engagement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593F-8468-6913-C6A3-40B274FEA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F19FA-9086-7641-E6B1-BA48F675B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7C8B1-CAC2-B1C1-2BA8-4D204D21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F821-4229-9947-B832-FAA4C66F453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3FDB6-E798-C197-B572-17F184E87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D79D1-D19B-D92E-2ADC-E33B04C0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92AE-4103-FF46-AD3C-995FD10C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0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C4E1A-6981-30D6-E8B4-A35D60696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C7F1C-8650-B8A6-C9DC-8FC6229CD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DEBA9-D334-4702-8975-8B47F6C9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F821-4229-9947-B832-FAA4C66F453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5A278-DE6C-D189-4776-94750A4E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A8E05-4451-A2A0-7ECE-B0AA92111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92AE-4103-FF46-AD3C-995FD10C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9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A6B0-D12E-B42F-E368-835314DB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234B4-FACD-F28C-AE0B-B5C0F2F8E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DD833-BC54-98AF-6722-4DD7125F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F821-4229-9947-B832-FAA4C66F453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2EDE5-B75D-5BB2-8A52-FD3B048A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EE1F0-B157-C6FA-51D5-BE7B1AD6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92AE-4103-FF46-AD3C-995FD10C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83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C6E58-7BBC-8089-0C7C-D4DEE245C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5182F-8D31-6614-4D78-7B1A3DC56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D3FD6-A078-7A7B-1116-2D1BE88E5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56826-4DDE-202C-3EC0-A8907A7F2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F821-4229-9947-B832-FAA4C66F453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0C24B-2A59-4FE1-B555-E4D0C8C6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B8464-0E51-7559-8DD8-4A2FD347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92AE-4103-FF46-AD3C-995FD10C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0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E4A40-1253-3B3B-B98B-1CA117CF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3F60C-80CD-8A7F-A83B-5D2966E62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F1EDA-B540-8580-E9E0-C7F1776BA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75F30A-64BC-B179-4EB1-E4012355B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24096B-C5B2-8D7F-88AB-648F7688D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4BDE75-F31F-BB8C-D03E-8B648922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F821-4229-9947-B832-FAA4C66F453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22021C-4B4D-DCB0-D0FD-E19BFFADA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83E82-8E52-A0B0-E802-8A8E83CD0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92AE-4103-FF46-AD3C-995FD10C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5A96-B78A-8C29-D02B-7E4A8DF4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E2B3D9-B79A-DFB3-FA8C-38B038FB8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F821-4229-9947-B832-FAA4C66F453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C85F6-68AA-06C3-84E3-D3E8135F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7B983A-7A6B-2586-0B48-C8A6A3BBB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92AE-4103-FF46-AD3C-995FD10C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2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E7AE70-0AA4-0DDD-09FB-5061B49D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F821-4229-9947-B832-FAA4C66F453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FF68D-36E0-78C9-5BCB-E90ECE40C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09C07-B95E-9C12-452E-930F4ACAF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92AE-4103-FF46-AD3C-995FD10C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70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B62EB-F193-488F-4887-2F20EB09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3BA9A-8CAF-994A-FDA3-E7F18E053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FDFB3-5159-234D-7C09-9D48A4C80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B8D2C-180F-64E2-9C75-0C4D98015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F821-4229-9947-B832-FAA4C66F453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D4FF4-B497-B702-426A-40B1230EA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3C90B-86E9-483C-D5DE-AA269BEE0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92AE-4103-FF46-AD3C-995FD10C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7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5AD1-474E-AB14-0A9B-D5FB81C5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665FFD-1651-DE31-4293-557099AED82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13BE5-E5A2-B500-202B-B4AAA8E7C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559B1-449F-37FF-4205-6D5D2A2D7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F821-4229-9947-B832-FAA4C66F453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292A9-5A55-9B2D-1455-EE510CCED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EAC91-511B-D50C-5005-BA410A1F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92AE-4103-FF46-AD3C-995FD10C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86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7BE50-076B-9469-1117-08D00B30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1EEB4-38FA-DCF9-3703-B7ECF021F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02DC0-081A-E0AE-8F03-4740B253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F821-4229-9947-B832-FAA4C66F453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364AB-EF7C-5928-3BDC-743A2476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641BB-A6BA-4682-2096-073A4F59F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92AE-4103-FF46-AD3C-995FD10C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69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98ECFB-8DA9-09EA-B88C-A001C1F29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203B6C-9163-08CB-E422-751751C96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24DE1-9130-81C6-20B5-D375C069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F821-4229-9947-B832-FAA4C66F453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B4EFD-DA4C-BD55-AEFF-AC3E0419F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F4EFA-BAB4-B04E-B46D-F1672C566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92AE-4103-FF46-AD3C-995FD10C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6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A8218E-6CA3-5108-5F4F-DE74C9C68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E5CD4-1E5F-2FA5-97D3-BD004AF3F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7617C-0E80-1642-DB2A-2E84701BE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DF821-4229-9947-B832-FAA4C66F453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8AD38-C0A1-35A7-575B-C9C3D843C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5880C-852C-66EE-B2DB-5BC7B8190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792AE-4103-FF46-AD3C-995FD10C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72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3B818-581F-8D95-618C-6F4A2B505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301" y="406400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E175D-DBAE-2EB3-2236-BA2D7F7B9E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08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6207854" y="5045393"/>
            <a:ext cx="4731471" cy="1316736"/>
          </a:xfrm>
          <a:prstGeom prst="rect">
            <a:avLst/>
          </a:prstGeom>
          <a:solidFill>
            <a:srgbClr val="FFFFFF"/>
          </a:solidFill>
          <a:ln w="10160">
            <a:solidFill>
              <a:srgbClr val="4C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782" tIns="43891" rIns="87782" bIns="43891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07854" y="5045393"/>
            <a:ext cx="4731471" cy="447690"/>
          </a:xfrm>
          <a:prstGeom prst="rect">
            <a:avLst/>
          </a:prstGeom>
          <a:solidFill>
            <a:srgbClr val="002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782" tIns="43891" rIns="87782" bIns="43891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9463" y="5045393"/>
            <a:ext cx="4195999" cy="1316736"/>
          </a:xfrm>
          <a:prstGeom prst="rect">
            <a:avLst/>
          </a:prstGeom>
          <a:solidFill>
            <a:srgbClr val="FFFFFF"/>
          </a:solidFill>
          <a:ln w="10160">
            <a:solidFill>
              <a:srgbClr val="4C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782" tIns="43891" rIns="87782" bIns="43891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9463" y="5045393"/>
            <a:ext cx="4195999" cy="447690"/>
          </a:xfrm>
          <a:prstGeom prst="rect">
            <a:avLst/>
          </a:prstGeom>
          <a:solidFill>
            <a:srgbClr val="5A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782" tIns="43891" rIns="87782" bIns="43891"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8D83C-70A4-3090-7E6F-E96FA3ADF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7577"/>
            <a:ext cx="10094976" cy="796637"/>
          </a:xfrm>
        </p:spPr>
        <p:txBody>
          <a:bodyPr lIns="87782" tIns="43891" rIns="87782" bIns="43891">
            <a:normAutofit/>
          </a:bodyPr>
          <a:lstStyle/>
          <a:p>
            <a:pPr>
              <a:defRPr/>
            </a:pPr>
            <a:r>
              <a:rPr lang="en-US" sz="3840"/>
              <a:t>&lt;Project Name&gt; - PoC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A6964-AD79-5BBC-3BAC-F9D4724A8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362" y="1328606"/>
            <a:ext cx="9857964" cy="386243"/>
          </a:xfrm>
        </p:spPr>
        <p:txBody>
          <a:bodyPr wrap="square" lIns="0" tIns="0" rIns="0" bIns="0">
            <a:normAutofit lnSpcReduction="10000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96" b="1">
                <a:solidFill>
                  <a:srgbClr val="002869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362" y="1732405"/>
            <a:ext cx="9857964" cy="1138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28" b="0">
                <a:solidFill>
                  <a:srgbClr val="000000"/>
                </a:solidFill>
                <a:latin typeface="Aptos"/>
              </a:rPr>
              <a:t>The absence of a </a:t>
            </a:r>
            <a:r>
              <a:rPr lang="en-US" sz="1728" b="1">
                <a:solidFill>
                  <a:srgbClr val="000000"/>
                </a:solidFill>
                <a:latin typeface="Aptos"/>
              </a:rPr>
              <a:t>unified contact journey</a:t>
            </a:r>
            <a:r>
              <a:rPr lang="en-US" sz="1728" b="0">
                <a:solidFill>
                  <a:srgbClr val="000000"/>
                </a:solidFill>
                <a:latin typeface="Aptos"/>
              </a:rPr>
              <a:t> limits visibility into an individual’s relationship with the organization. Fragmented contact records across accounts and time prevent the consolidation of prior interactions into a single, chronological view, resulting in </a:t>
            </a:r>
            <a:r>
              <a:rPr lang="en-US" sz="1728" b="1">
                <a:solidFill>
                  <a:srgbClr val="000000"/>
                </a:solidFill>
                <a:latin typeface="Aptos"/>
              </a:rPr>
              <a:t>lost context and incomplete customer insight</a:t>
            </a:r>
            <a:r>
              <a:rPr lang="en-US" sz="1728" b="0">
                <a:solidFill>
                  <a:srgbClr val="000000"/>
                </a:solidFill>
                <a:latin typeface="Apto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471" y="5106841"/>
            <a:ext cx="3879982" cy="307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920" b="1">
                <a:solidFill>
                  <a:srgbClr val="FFFFFF"/>
                </a:solidFill>
                <a:latin typeface="Aptos"/>
              </a:rPr>
              <a:t>Current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5863" y="5106841"/>
            <a:ext cx="4415455" cy="307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920" b="1">
                <a:solidFill>
                  <a:srgbClr val="FFFFFF"/>
                </a:solidFill>
                <a:latin typeface="Aptos"/>
              </a:rPr>
              <a:t>Future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471" y="5563309"/>
            <a:ext cx="3879982" cy="276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28" b="0">
                <a:solidFill>
                  <a:srgbClr val="000000"/>
                </a:solidFill>
                <a:latin typeface="Aptos"/>
              </a:rPr>
              <a:t>Rule-based contact deduplication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471" y="5896883"/>
            <a:ext cx="3879982" cy="276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28" b="0">
                <a:solidFill>
                  <a:srgbClr val="000000"/>
                </a:solidFill>
                <a:latin typeface="Aptos"/>
              </a:rPr>
              <a:t>No unified view of contact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463" y="3043955"/>
            <a:ext cx="10007194" cy="399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96" b="1">
                <a:solidFill>
                  <a:srgbClr val="002869"/>
                </a:solidFill>
                <a:latin typeface="Aptos"/>
              </a:rPr>
              <a:t>Two Linked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8827" y="3579427"/>
            <a:ext cx="4143329" cy="851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8" b="0">
                <a:solidFill>
                  <a:srgbClr val="000000"/>
                </a:solidFill>
                <a:latin typeface="Aptos"/>
              </a:rPr>
              <a:t>Identify and unify duplicate contact records to establish a </a:t>
            </a:r>
            <a:r>
              <a:rPr lang="en-US" sz="1728" b="1">
                <a:solidFill>
                  <a:srgbClr val="000000"/>
                </a:solidFill>
                <a:latin typeface="Aptos"/>
              </a:rPr>
              <a:t>single, trusted identity</a:t>
            </a:r>
            <a:r>
              <a:rPr lang="en-US" sz="1728" b="0">
                <a:solidFill>
                  <a:srgbClr val="000000"/>
                </a:solidFill>
                <a:latin typeface="Aptos"/>
              </a:rPr>
              <a:t> for each individual.</a:t>
            </a:r>
            <a:endParaRPr lang="en-US" sz="1800" b="0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95996" y="3579427"/>
            <a:ext cx="4143329" cy="1138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28" b="0">
                <a:solidFill>
                  <a:srgbClr val="000000"/>
                </a:solidFill>
                <a:latin typeface="Aptos"/>
              </a:rPr>
              <a:t>Unlock the full client journey by connecting historical appearances and engagements across accounts into one </a:t>
            </a:r>
            <a:r>
              <a:rPr lang="en-US" sz="1728" b="1">
                <a:solidFill>
                  <a:srgbClr val="000000"/>
                </a:solidFill>
                <a:latin typeface="Aptos"/>
              </a:rPr>
              <a:t>consolidated, chronological timeline</a:t>
            </a:r>
            <a:r>
              <a:rPr lang="en-US" sz="1728" b="0">
                <a:solidFill>
                  <a:srgbClr val="000000"/>
                </a:solidFill>
                <a:latin typeface="Aptos"/>
              </a:rPr>
              <a:t>.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6365863" y="5563309"/>
            <a:ext cx="4415455" cy="276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28" b="0">
                <a:solidFill>
                  <a:srgbClr val="000000"/>
                </a:solidFill>
                <a:latin typeface="Aptos"/>
              </a:rPr>
              <a:t>XYZ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6365863" y="5896883"/>
            <a:ext cx="4415455" cy="276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28" b="0">
                <a:solidFill>
                  <a:srgbClr val="000000"/>
                </a:solidFill>
                <a:latin typeface="Aptos"/>
              </a:rPr>
              <a:t>ABC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94917" y="5615979"/>
            <a:ext cx="693481" cy="438912"/>
          </a:xfrm>
          <a:prstGeom prst="rightArrow">
            <a:avLst/>
          </a:prstGeom>
          <a:solidFill>
            <a:srgbClr val="005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782" tIns="43891" rIns="87782" bIns="43891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9463" y="1372498"/>
            <a:ext cx="48280" cy="1492301"/>
          </a:xfrm>
          <a:prstGeom prst="rect">
            <a:avLst/>
          </a:prstGeom>
          <a:solidFill>
            <a:srgbClr val="005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782" tIns="43891" rIns="87782" bIns="43891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9463" y="3553092"/>
            <a:ext cx="509138" cy="4431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2880" b="1">
                <a:solidFill>
                  <a:srgbClr val="0057AF"/>
                </a:solidFill>
                <a:latin typeface="Apto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7854" y="3553092"/>
            <a:ext cx="509138" cy="4431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2880" b="1">
                <a:solidFill>
                  <a:srgbClr val="0057AF"/>
                </a:solidFill>
                <a:latin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8852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3"/>
          <p:cNvSpPr/>
          <p:nvPr/>
        </p:nvSpPr>
        <p:spPr>
          <a:xfrm>
            <a:off x="594360" y="5718200"/>
            <a:ext cx="11000232" cy="608076"/>
          </a:xfrm>
          <a:prstGeom prst="rect">
            <a:avLst/>
          </a:prstGeom>
          <a:solidFill>
            <a:srgbClr val="FFFFFF"/>
          </a:solidFill>
          <a:ln w="8941">
            <a:solidFill>
              <a:srgbClr val="4C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4"/>
          <p:cNvSpPr/>
          <p:nvPr/>
        </p:nvSpPr>
        <p:spPr>
          <a:xfrm>
            <a:off x="594360" y="5718200"/>
            <a:ext cx="2286000" cy="608076"/>
          </a:xfrm>
          <a:prstGeom prst="rect">
            <a:avLst/>
          </a:prstGeom>
          <a:solidFill>
            <a:srgbClr val="002869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33"/>
          <p:cNvSpPr/>
          <p:nvPr/>
        </p:nvSpPr>
        <p:spPr>
          <a:xfrm>
            <a:off x="6301392" y="3060039"/>
            <a:ext cx="5293200" cy="2501798"/>
          </a:xfrm>
          <a:prstGeom prst="rect">
            <a:avLst/>
          </a:prstGeom>
          <a:solidFill>
            <a:srgbClr val="FFFFFF"/>
          </a:solidFill>
          <a:ln w="8941">
            <a:solidFill>
              <a:srgbClr val="4C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34"/>
          <p:cNvSpPr/>
          <p:nvPr/>
        </p:nvSpPr>
        <p:spPr>
          <a:xfrm>
            <a:off x="6301392" y="3060039"/>
            <a:ext cx="5293200" cy="373532"/>
          </a:xfrm>
          <a:prstGeom prst="rect">
            <a:avLst/>
          </a:prstGeom>
          <a:solidFill>
            <a:srgbClr val="002869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33"/>
          <p:cNvSpPr/>
          <p:nvPr/>
        </p:nvSpPr>
        <p:spPr>
          <a:xfrm>
            <a:off x="594360" y="3060039"/>
            <a:ext cx="5273952" cy="2501798"/>
          </a:xfrm>
          <a:prstGeom prst="rect">
            <a:avLst/>
          </a:prstGeom>
          <a:solidFill>
            <a:srgbClr val="FFFFFF"/>
          </a:solidFill>
          <a:ln w="8941">
            <a:solidFill>
              <a:srgbClr val="4C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34"/>
          <p:cNvSpPr/>
          <p:nvPr/>
        </p:nvSpPr>
        <p:spPr>
          <a:xfrm>
            <a:off x="594360" y="3060039"/>
            <a:ext cx="5273952" cy="373532"/>
          </a:xfrm>
          <a:prstGeom prst="rect">
            <a:avLst/>
          </a:prstGeom>
          <a:solidFill>
            <a:srgbClr val="002869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33"/>
          <p:cNvSpPr/>
          <p:nvPr/>
        </p:nvSpPr>
        <p:spPr>
          <a:xfrm>
            <a:off x="594360" y="1261872"/>
            <a:ext cx="11000232" cy="1659178"/>
          </a:xfrm>
          <a:prstGeom prst="rect">
            <a:avLst/>
          </a:prstGeom>
          <a:solidFill>
            <a:srgbClr val="FFFFFF"/>
          </a:solidFill>
          <a:ln w="8941">
            <a:solidFill>
              <a:srgbClr val="4C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34"/>
          <p:cNvSpPr/>
          <p:nvPr/>
        </p:nvSpPr>
        <p:spPr>
          <a:xfrm>
            <a:off x="594360" y="1261872"/>
            <a:ext cx="11000232" cy="373744"/>
          </a:xfrm>
          <a:prstGeom prst="rect">
            <a:avLst/>
          </a:prstGeom>
          <a:solidFill>
            <a:srgbClr val="002869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A86FC5-C14C-4BCA-AFCA-A568554BE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640080"/>
          </a:xfrm>
        </p:spPr>
        <p:txBody>
          <a:bodyPr wrap="square">
            <a:normAutofit/>
          </a:bodyPr>
          <a:lstStyle/>
          <a:p>
            <a:r>
              <a:rPr lang="en-US" sz="3600" b="0" dirty="0">
                <a:solidFill>
                  <a:srgbClr val="002869"/>
                </a:solidFill>
                <a:latin typeface="Aptos"/>
              </a:rPr>
              <a:t>Data Sources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1A9B4-9EF2-9424-B8FB-D05520C6C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720" y="3116503"/>
            <a:ext cx="4908240" cy="286664"/>
          </a:xfrm>
        </p:spPr>
        <p:txBody>
          <a:bodyPr wrap="square" lIns="0" tIns="0" rIns="0" bIns="0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5" b="1">
                <a:solidFill>
                  <a:srgbClr val="FFFFFF"/>
                </a:solidFill>
                <a:latin typeface="Aptos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0672" y="5796381"/>
            <a:ext cx="2798064" cy="28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5" b="1">
                <a:solidFill>
                  <a:srgbClr val="002869"/>
                </a:solidFill>
                <a:latin typeface="Aptos"/>
              </a:rPr>
              <a:t>123,566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0672" y="6083046"/>
            <a:ext cx="2798064" cy="22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000000"/>
                </a:solidFill>
                <a:latin typeface="Aptos"/>
              </a:rPr>
              <a:t>Total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5796381"/>
            <a:ext cx="2798064" cy="28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5" b="1">
                <a:solidFill>
                  <a:srgbClr val="002869"/>
                </a:solidFill>
                <a:latin typeface="Aptos"/>
              </a:rPr>
              <a:t>112,323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083046"/>
            <a:ext cx="2798064" cy="22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000000"/>
                </a:solidFill>
                <a:latin typeface="Aptos"/>
              </a:rPr>
              <a:t>Active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5796381"/>
            <a:ext cx="2798064" cy="28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5" b="1">
                <a:solidFill>
                  <a:srgbClr val="002869"/>
                </a:solidFill>
                <a:latin typeface="Aptos"/>
              </a:rPr>
              <a:t>12,454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6083046"/>
            <a:ext cx="2798064" cy="22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000000"/>
                </a:solidFill>
                <a:latin typeface="Aptos"/>
              </a:rPr>
              <a:t>Contacts with LinkedIn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5752" y="3116503"/>
            <a:ext cx="4908240" cy="286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5" b="1">
                <a:solidFill>
                  <a:srgbClr val="FFFFFF"/>
                </a:solidFill>
                <a:latin typeface="Aptos"/>
              </a:rPr>
              <a:t>Matching attributes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968" y="3529126"/>
            <a:ext cx="4860120" cy="273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1">
                <a:solidFill>
                  <a:srgbClr val="002869"/>
                </a:solidFill>
                <a:latin typeface="Aptos"/>
              </a:rPr>
              <a:t>MDM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968" y="3807103"/>
            <a:ext cx="4860120" cy="527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614" b="0">
                <a:solidFill>
                  <a:srgbClr val="000000"/>
                </a:solidFill>
                <a:latin typeface="Aptos"/>
              </a:rPr>
              <a:t>schema1.table1, schema2.table2</a:t>
            </a:r>
            <a:r>
              <a:rPr lang="en-US" sz="1614">
                <a:solidFill>
                  <a:srgbClr val="000000"/>
                </a:solidFill>
              </a:rPr>
              <a:t>, schema1.table1, schema2.table2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968" y="4345686"/>
            <a:ext cx="4860120" cy="273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1">
                <a:solidFill>
                  <a:srgbClr val="002869"/>
                </a:solidFill>
                <a:latin typeface="Aptos"/>
              </a:rPr>
              <a:t>LinkedIn (TeamA DB)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968" y="4623663"/>
            <a:ext cx="486012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14" b="0">
                <a:solidFill>
                  <a:srgbClr val="000000"/>
                </a:solidFill>
                <a:latin typeface="Aptos"/>
              </a:rPr>
              <a:t>User histories collected via Lix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968" y="4962448"/>
            <a:ext cx="4860120" cy="273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1">
                <a:solidFill>
                  <a:srgbClr val="002869"/>
                </a:solidFill>
                <a:latin typeface="Aptos"/>
              </a:rPr>
              <a:t>ZoomInfo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968" y="5240426"/>
            <a:ext cx="4860120" cy="260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14" b="0">
                <a:solidFill>
                  <a:srgbClr val="000000"/>
                </a:solidFill>
                <a:latin typeface="Aptos"/>
              </a:rPr>
              <a:t>Enriched data for ~60K specific contact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5000" y="3529126"/>
            <a:ext cx="4860120" cy="273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1">
                <a:solidFill>
                  <a:srgbClr val="002869"/>
                </a:solidFill>
                <a:latin typeface="Aptos"/>
              </a:rPr>
              <a:t>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5000" y="3841850"/>
            <a:ext cx="4860120" cy="529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14" b="0">
                <a:solidFill>
                  <a:srgbClr val="000000"/>
                </a:solidFill>
                <a:latin typeface="Aptos"/>
              </a:rPr>
              <a:t>First Name, Last Name, Email,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14" b="0">
                <a:solidFill>
                  <a:srgbClr val="000000"/>
                </a:solidFill>
                <a:latin typeface="Aptos"/>
              </a:rPr>
              <a:t>LinkedIn URL, Phone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5000" y="4684471"/>
            <a:ext cx="4860120" cy="273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1">
                <a:solidFill>
                  <a:srgbClr val="002869"/>
                </a:solidFill>
                <a:latin typeface="Aptos"/>
              </a:rPr>
              <a:t>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5000" y="4962448"/>
            <a:ext cx="4860120" cy="529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14" b="0">
                <a:solidFill>
                  <a:srgbClr val="000000"/>
                </a:solidFill>
                <a:latin typeface="Aptos"/>
              </a:rPr>
              <a:t>Name, Org Code, SAS ID, Enterprise ID,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14" b="0">
                <a:solidFill>
                  <a:srgbClr val="000000"/>
                </a:solidFill>
                <a:latin typeface="Aptos"/>
              </a:rPr>
              <a:t>Location Attributes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720" y="1318745"/>
            <a:ext cx="9624000" cy="304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1">
                <a:solidFill>
                  <a:srgbClr val="FFFFFF"/>
                </a:solidFill>
                <a:latin typeface="Aptos"/>
              </a:rPr>
              <a:t>Scope Constraints &amp; Exclusions</a:t>
            </a:r>
          </a:p>
        </p:txBody>
      </p:sp>
      <p:sp>
        <p:nvSpPr>
          <p:cNvPr id="29" name="TextBox 11"/>
          <p:cNvSpPr txBox="1"/>
          <p:nvPr/>
        </p:nvSpPr>
        <p:spPr>
          <a:xfrm>
            <a:off x="757968" y="1704898"/>
            <a:ext cx="10586400" cy="272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000000"/>
                </a:solidFill>
                <a:latin typeface="Aptos"/>
              </a:rPr>
              <a:t>Prospect contact types are entirely out of scope.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757968" y="2000250"/>
            <a:ext cx="10586400" cy="272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000000"/>
                </a:solidFill>
                <a:latin typeface="Aptos"/>
              </a:rPr>
              <a:t>Every evaluation pair must include at least one licensed user.</a:t>
            </a:r>
          </a:p>
        </p:txBody>
      </p:sp>
      <p:sp>
        <p:nvSpPr>
          <p:cNvPr id="31" name="TextBox 11"/>
          <p:cNvSpPr txBox="1"/>
          <p:nvPr/>
        </p:nvSpPr>
        <p:spPr>
          <a:xfrm>
            <a:off x="749808" y="5877657"/>
            <a:ext cx="1975104" cy="289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5" b="1">
                <a:solidFill>
                  <a:srgbClr val="FFFFFF"/>
                </a:solidFill>
                <a:latin typeface="Aptos"/>
              </a:rPr>
              <a:t>Profile metrics</a:t>
            </a:r>
          </a:p>
        </p:txBody>
      </p:sp>
      <p:sp>
        <p:nvSpPr>
          <p:cNvPr id="34" name="Sample scope sentence 34"/>
          <p:cNvSpPr txBox="1"/>
          <p:nvPr/>
        </p:nvSpPr>
        <p:spPr>
          <a:xfrm>
            <a:off x="757968" y="2295601"/>
            <a:ext cx="10586400" cy="272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000000"/>
                </a:solidFill>
                <a:latin typeface="Aptos"/>
              </a:rPr>
              <a:t>Sample: Exclude records without a usable contact identifier.</a:t>
            </a:r>
          </a:p>
        </p:txBody>
      </p:sp>
      <p:sp>
        <p:nvSpPr>
          <p:cNvPr id="35" name="Sample scope sentence 35"/>
          <p:cNvSpPr txBox="1"/>
          <p:nvPr/>
        </p:nvSpPr>
        <p:spPr>
          <a:xfrm>
            <a:off x="757968" y="2590952"/>
            <a:ext cx="10586400" cy="272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000000"/>
                </a:solidFill>
                <a:latin typeface="Aptos"/>
              </a:rPr>
              <a:t>Sample: Review candidate matches before updating source records.</a:t>
            </a:r>
          </a:p>
        </p:txBody>
      </p:sp>
    </p:spTree>
    <p:extLst>
      <p:ext uri="{BB962C8B-B14F-4D97-AF65-F5344CB8AC3E}">
        <p14:creationId xmlns:p14="http://schemas.microsoft.com/office/powerpoint/2010/main" val="2088778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20"/>
          <p:cNvCxnSpPr/>
          <p:nvPr/>
        </p:nvCxnSpPr>
        <p:spPr>
          <a:xfrm>
            <a:off x="9152595" y="5490972"/>
            <a:ext cx="401971" cy="0"/>
          </a:xfrm>
          <a:prstGeom prst="line">
            <a:avLst/>
          </a:prstGeom>
          <a:ln w="21590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40331" y="5490972"/>
            <a:ext cx="376002" cy="0"/>
          </a:xfrm>
          <a:prstGeom prst="line">
            <a:avLst/>
          </a:prstGeom>
          <a:ln w="21590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10912" y="5490972"/>
            <a:ext cx="293157" cy="0"/>
          </a:xfrm>
          <a:prstGeom prst="line">
            <a:avLst/>
          </a:prstGeom>
          <a:ln w="21590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10912" y="3589020"/>
            <a:ext cx="4543654" cy="0"/>
          </a:xfrm>
          <a:prstGeom prst="line">
            <a:avLst/>
          </a:prstGeom>
          <a:ln w="21590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10912" y="3589020"/>
            <a:ext cx="0" cy="1901952"/>
          </a:xfrm>
          <a:prstGeom prst="line">
            <a:avLst/>
          </a:prstGeom>
          <a:ln w="21590">
            <a:solidFill>
              <a:srgbClr val="005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33300" y="4485132"/>
            <a:ext cx="277612" cy="0"/>
          </a:xfrm>
          <a:prstGeom prst="line">
            <a:avLst/>
          </a:prstGeom>
          <a:ln w="21590">
            <a:solidFill>
              <a:srgbClr val="005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74732" y="4485132"/>
            <a:ext cx="436352" cy="0"/>
          </a:xfrm>
          <a:prstGeom prst="line">
            <a:avLst/>
          </a:prstGeom>
          <a:ln w="21590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9F70736-3EBA-2935-D7B8-9F1FCD6C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640080"/>
          </a:xfrm>
        </p:spPr>
        <p:txBody>
          <a:bodyPr wrap="square"/>
          <a:lstStyle/>
          <a:p>
            <a:r>
              <a:rPr lang="en-US" sz="3600" b="0">
                <a:solidFill>
                  <a:srgbClr val="002869"/>
                </a:solidFill>
                <a:latin typeface="Aptos"/>
              </a:rPr>
              <a:t>Solution – High Level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F8088-7F6A-5F80-783F-CDCEA456A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261872"/>
            <a:ext cx="10972800" cy="132588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000" b="0">
                <a:solidFill>
                  <a:srgbClr val="5A798C"/>
                </a:solidFill>
                <a:latin typeface="Aptos"/>
              </a:rPr>
              <a:t>The solution combines answers to two different questions,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300" b="1">
                <a:solidFill>
                  <a:srgbClr val="002869"/>
                </a:solidFill>
                <a:latin typeface="Aptos"/>
              </a:rPr>
              <a:t>Do the identity attributes match?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300" b="1">
                <a:solidFill>
                  <a:srgbClr val="002869"/>
                </a:solidFill>
                <a:latin typeface="Aptos"/>
              </a:rPr>
              <a:t>Do the account related attributes match?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930B1F-6716-398A-DA05-F91A9E4584CA}"/>
              </a:ext>
            </a:extLst>
          </p:cNvPr>
          <p:cNvSpPr/>
          <p:nvPr/>
        </p:nvSpPr>
        <p:spPr>
          <a:xfrm>
            <a:off x="652516" y="3861967"/>
            <a:ext cx="1822216" cy="1246327"/>
          </a:xfrm>
          <a:prstGeom prst="roundRect">
            <a:avLst>
              <a:gd name="adj" fmla="val 7000"/>
            </a:avLst>
          </a:prstGeom>
          <a:solidFill>
            <a:srgbClr val="002869"/>
          </a:solidFill>
          <a:ln w="10160">
            <a:solidFill>
              <a:srgbClr val="4C8C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FFFFF"/>
                </a:solidFill>
                <a:latin typeface="Aptos"/>
              </a:rPr>
              <a:t>Contact Identity Similarity 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FFFFF"/>
                </a:solidFill>
                <a:latin typeface="Aptos"/>
              </a:rPr>
              <a:t>(Statistical Model)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207F20-264A-F969-31E8-3B27497346E2}"/>
              </a:ext>
            </a:extLst>
          </p:cNvPr>
          <p:cNvSpPr/>
          <p:nvPr/>
        </p:nvSpPr>
        <p:spPr>
          <a:xfrm>
            <a:off x="2911084" y="3861967"/>
            <a:ext cx="1822216" cy="1246327"/>
          </a:xfrm>
          <a:prstGeom prst="roundRect">
            <a:avLst>
              <a:gd name="adj" fmla="val 7000"/>
            </a:avLst>
          </a:prstGeom>
          <a:solidFill>
            <a:srgbClr val="002869"/>
          </a:solidFill>
          <a:ln w="10160">
            <a:solidFill>
              <a:srgbClr val="4C8C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FFFFF"/>
                </a:solidFill>
                <a:latin typeface="Aptos"/>
              </a:rPr>
              <a:t>Account Similarity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FFFFF"/>
                </a:solidFill>
                <a:latin typeface="Aptos"/>
              </a:rPr>
              <a:t>(Deterministic Rule Engine)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5A0650-8824-FDC8-3E5D-B9943B94DB30}"/>
              </a:ext>
            </a:extLst>
          </p:cNvPr>
          <p:cNvSpPr/>
          <p:nvPr/>
        </p:nvSpPr>
        <p:spPr>
          <a:xfrm>
            <a:off x="9554566" y="4867808"/>
            <a:ext cx="1976932" cy="1246327"/>
          </a:xfrm>
          <a:prstGeom prst="roundRect">
            <a:avLst>
              <a:gd name="adj" fmla="val 7000"/>
            </a:avLst>
          </a:prstGeom>
          <a:solidFill>
            <a:srgbClr val="0057AF"/>
          </a:solidFill>
          <a:ln w="10160">
            <a:solidFill>
              <a:srgbClr val="4C8C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FFFFF"/>
                </a:solidFill>
                <a:latin typeface="Aptos"/>
              </a:rPr>
              <a:t>Corroborated Journey Linkage Candidates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22A4EA-25B8-4C8C-5CEB-95E9FC2EA614}"/>
              </a:ext>
            </a:extLst>
          </p:cNvPr>
          <p:cNvSpPr/>
          <p:nvPr/>
        </p:nvSpPr>
        <p:spPr>
          <a:xfrm>
            <a:off x="7416333" y="4867808"/>
            <a:ext cx="1736262" cy="1246327"/>
          </a:xfrm>
          <a:prstGeom prst="roundRect">
            <a:avLst>
              <a:gd name="adj" fmla="val 7000"/>
            </a:avLst>
          </a:prstGeom>
          <a:solidFill>
            <a:srgbClr val="EAF3FB"/>
          </a:solidFill>
          <a:ln w="10160">
            <a:solidFill>
              <a:srgbClr val="4C8C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002869"/>
                </a:solidFill>
                <a:latin typeface="Aptos"/>
              </a:rPr>
              <a:t>LinkedIn History Corroboration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F5AFA9-F52D-E4C3-0363-87F9063DDC9A}"/>
              </a:ext>
            </a:extLst>
          </p:cNvPr>
          <p:cNvSpPr/>
          <p:nvPr/>
        </p:nvSpPr>
        <p:spPr>
          <a:xfrm>
            <a:off x="5304069" y="4867808"/>
            <a:ext cx="1736262" cy="1246327"/>
          </a:xfrm>
          <a:prstGeom prst="roundRect">
            <a:avLst>
              <a:gd name="adj" fmla="val 7000"/>
            </a:avLst>
          </a:prstGeom>
          <a:solidFill>
            <a:srgbClr val="EAF3FB"/>
          </a:solidFill>
          <a:ln w="10160">
            <a:solidFill>
              <a:srgbClr val="4C8C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002869"/>
                </a:solidFill>
                <a:latin typeface="Aptos"/>
              </a:rPr>
              <a:t>Journey Linkage Candidates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42AF26-779C-A69D-BC6E-3B4CC68D00CC}"/>
              </a:ext>
            </a:extLst>
          </p:cNvPr>
          <p:cNvSpPr/>
          <p:nvPr/>
        </p:nvSpPr>
        <p:spPr>
          <a:xfrm>
            <a:off x="9554566" y="2965856"/>
            <a:ext cx="1976932" cy="1246327"/>
          </a:xfrm>
          <a:prstGeom prst="roundRect">
            <a:avLst>
              <a:gd name="adj" fmla="val 7000"/>
            </a:avLst>
          </a:prstGeom>
          <a:solidFill>
            <a:srgbClr val="0057AF"/>
          </a:solidFill>
          <a:ln w="10160">
            <a:solidFill>
              <a:srgbClr val="4C8C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FFFFF"/>
                </a:solidFill>
                <a:latin typeface="Aptos"/>
              </a:rPr>
              <a:t>Contact Duplicate Candidates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337560"/>
            <a:ext cx="416052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800" b="1">
                <a:solidFill>
                  <a:srgbClr val="0057AF"/>
                </a:solidFill>
                <a:latin typeface="Aptos"/>
              </a:rPr>
              <a:t>Shared similarity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3054096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800" b="1">
                <a:solidFill>
                  <a:srgbClr val="0057AF"/>
                </a:solidFill>
                <a:latin typeface="Aptos"/>
              </a:rPr>
              <a:t>Goal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4361688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800" b="1">
                <a:solidFill>
                  <a:srgbClr val="0057AF"/>
                </a:solidFill>
                <a:latin typeface="Aptos"/>
              </a:rPr>
              <a:t>Goal 2</a:t>
            </a:r>
          </a:p>
        </p:txBody>
      </p:sp>
    </p:spTree>
    <p:extLst>
      <p:ext uri="{BB962C8B-B14F-4D97-AF65-F5344CB8AC3E}">
        <p14:creationId xmlns:p14="http://schemas.microsoft.com/office/powerpoint/2010/main" val="148682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Combined dataset input"/>
          <p:cNvCxnSpPr/>
          <p:nvPr/>
        </p:nvCxnSpPr>
        <p:spPr>
          <a:xfrm>
            <a:off x="2931810" y="2256739"/>
            <a:ext cx="260421" cy="0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155680" cy="777240"/>
          </a:xfrm>
        </p:spPr>
        <p:txBody>
          <a:bodyPr/>
          <a:lstStyle/>
          <a:p>
            <a:r>
              <a:rPr lang="en-US"/>
              <a:t>Contact Matching and Engagement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03576" y="1922800"/>
            <a:ext cx="228233" cy="0"/>
          </a:xfrm>
          <a:prstGeom prst="line">
            <a:avLst/>
          </a:prstGeom>
          <a:ln w="14529">
            <a:solidFill>
              <a:srgbClr val="005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898136" y="2079711"/>
            <a:ext cx="488655" cy="0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108789" y="2079711"/>
            <a:ext cx="488653" cy="0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94264" y="2860243"/>
            <a:ext cx="0" cy="855878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74731" y="3099084"/>
            <a:ext cx="764438" cy="3634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056" b="0">
                <a:solidFill>
                  <a:srgbClr val="5A798C"/>
                </a:solidFill>
                <a:latin typeface="Aptos"/>
              </a:defRPr>
            </a:pPr>
            <a:r>
              <a:rPr lang="en-US"/>
              <a:t>Trained</a:t>
            </a:r>
          </a:p>
          <a:p>
            <a:pPr>
              <a:spcAft>
                <a:spcPts val="264"/>
              </a:spcAft>
              <a:defRPr sz="1056" b="0">
                <a:solidFill>
                  <a:srgbClr val="5A798C"/>
                </a:solidFill>
                <a:latin typeface="Aptos"/>
              </a:defRPr>
            </a:pPr>
            <a:r>
              <a:rPr lang="en-US"/>
              <a:t>model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45183" y="2860243"/>
            <a:ext cx="0" cy="534009"/>
          </a:xfrm>
          <a:prstGeom prst="line">
            <a:avLst/>
          </a:prstGeom>
          <a:ln w="14529">
            <a:solidFill>
              <a:srgbClr val="5A79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45183" y="3394252"/>
            <a:ext cx="5121371" cy="0"/>
          </a:xfrm>
          <a:prstGeom prst="line">
            <a:avLst/>
          </a:prstGeom>
          <a:ln w="14529">
            <a:solidFill>
              <a:srgbClr val="5A79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66555" y="3394252"/>
            <a:ext cx="0" cy="321868"/>
          </a:xfrm>
          <a:prstGeom prst="line">
            <a:avLst/>
          </a:prstGeom>
          <a:ln w="14529">
            <a:solidFill>
              <a:srgbClr val="5A798C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939137" y="3394252"/>
            <a:ext cx="2106045" cy="0"/>
          </a:xfrm>
          <a:prstGeom prst="line">
            <a:avLst/>
          </a:prstGeom>
          <a:ln w="14529">
            <a:solidFill>
              <a:srgbClr val="5A79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39137" y="3394252"/>
            <a:ext cx="0" cy="321868"/>
          </a:xfrm>
          <a:prstGeom prst="line">
            <a:avLst/>
          </a:prstGeom>
          <a:ln w="14529">
            <a:solidFill>
              <a:srgbClr val="5A798C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30593" y="3394252"/>
            <a:ext cx="0" cy="321868"/>
          </a:xfrm>
          <a:prstGeom prst="line">
            <a:avLst/>
          </a:prstGeom>
          <a:ln w="14529">
            <a:solidFill>
              <a:srgbClr val="5A798C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/>
          </p:cNvSpPr>
          <p:nvPr/>
        </p:nvSpPr>
        <p:spPr>
          <a:xfrm>
            <a:off x="4466539" y="3128711"/>
            <a:ext cx="4586630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056" b="1">
                <a:solidFill>
                  <a:srgbClr val="5A798C"/>
                </a:solidFill>
                <a:latin typeface="Aptos"/>
              </a:defRPr>
            </a:pPr>
            <a:r>
              <a:rPr lang="en-US"/>
              <a:t>Cleaned data from 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297" y="3450579"/>
            <a:ext cx="2253081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056" b="0">
                <a:solidFill>
                  <a:srgbClr val="5A798C"/>
                </a:solidFill>
                <a:latin typeface="Aptos"/>
              </a:defRPr>
            </a:pPr>
            <a:r>
              <a:rPr lang="en-US"/>
              <a:t>LinkedIn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4987" y="3450579"/>
            <a:ext cx="2092147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056" b="0">
                <a:solidFill>
                  <a:srgbClr val="5A798C"/>
                </a:solidFill>
                <a:latin typeface="Aptos"/>
              </a:defRPr>
            </a:pPr>
            <a:r>
              <a:rPr lang="en-US"/>
              <a:t>Account attributes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3518" y="3450579"/>
            <a:ext cx="2194560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056" b="0">
                <a:solidFill>
                  <a:srgbClr val="5A798C"/>
                </a:solidFill>
                <a:latin typeface="Aptos"/>
              </a:defRPr>
            </a:pPr>
            <a:r>
              <a:rPr lang="en-US"/>
              <a:t>Two scoring runs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082441" y="4641494"/>
            <a:ext cx="561074" cy="0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086136" y="4641494"/>
            <a:ext cx="300654" cy="0"/>
          </a:xfrm>
          <a:prstGeom prst="line">
            <a:avLst/>
          </a:prstGeom>
          <a:ln w="14529">
            <a:solidFill>
              <a:srgbClr val="005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086136" y="3973616"/>
            <a:ext cx="0" cy="667877"/>
          </a:xfrm>
          <a:prstGeom prst="line">
            <a:avLst/>
          </a:prstGeom>
          <a:ln w="14529">
            <a:solidFill>
              <a:srgbClr val="005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86136" y="4641494"/>
            <a:ext cx="0" cy="708111"/>
          </a:xfrm>
          <a:prstGeom prst="line">
            <a:avLst/>
          </a:prstGeom>
          <a:ln w="14529">
            <a:solidFill>
              <a:srgbClr val="005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833762" y="3973616"/>
            <a:ext cx="252374" cy="0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833762" y="4432279"/>
            <a:ext cx="252374" cy="0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833762" y="4890942"/>
            <a:ext cx="252374" cy="0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833762" y="5349605"/>
            <a:ext cx="252374" cy="0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122005" y="4890942"/>
            <a:ext cx="408187" cy="0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93064" y="1371600"/>
            <a:ext cx="1850745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056" b="1">
                <a:solidFill>
                  <a:srgbClr val="5A798C"/>
                </a:solidFill>
                <a:latin typeface="Aptos"/>
              </a:defRPr>
            </a:pPr>
            <a:r>
              <a:rPr lang="en-US"/>
              <a:t>INPUT DATASETS</a:t>
            </a:r>
          </a:p>
        </p:txBody>
      </p:sp>
      <p:sp>
        <p:nvSpPr>
          <p:cNvPr id="28" name="Data 27"/>
          <p:cNvSpPr/>
          <p:nvPr/>
        </p:nvSpPr>
        <p:spPr>
          <a:xfrm>
            <a:off x="852830" y="1653235"/>
            <a:ext cx="1850745" cy="539130"/>
          </a:xfrm>
          <a:prstGeom prst="can">
            <a:avLst/>
          </a:prstGeom>
          <a:solidFill>
            <a:srgbClr val="FFFFFF"/>
          </a:solidFill>
          <a:ln w="11265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3531" y="1870317"/>
            <a:ext cx="1609344" cy="2031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20" b="1">
                <a:solidFill>
                  <a:srgbClr val="000000"/>
                </a:solidFill>
                <a:latin typeface="Aptos"/>
              </a:defRPr>
            </a:pPr>
            <a:r>
              <a:rPr lang="en-US"/>
              <a:t>Person &amp; Account</a:t>
            </a:r>
          </a:p>
        </p:txBody>
      </p:sp>
      <p:sp>
        <p:nvSpPr>
          <p:cNvPr id="30" name="Data 29"/>
          <p:cNvSpPr>
            <a:spLocks/>
          </p:cNvSpPr>
          <p:nvPr/>
        </p:nvSpPr>
        <p:spPr>
          <a:xfrm>
            <a:off x="852830" y="2313066"/>
            <a:ext cx="1850745" cy="547176"/>
          </a:xfrm>
          <a:prstGeom prst="can">
            <a:avLst/>
          </a:prstGeom>
          <a:solidFill>
            <a:srgbClr val="FFFFFF"/>
          </a:solidFill>
          <a:ln w="11265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73531" y="2534172"/>
            <a:ext cx="1609344" cy="2031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20" b="1">
                <a:solidFill>
                  <a:srgbClr val="000000"/>
                </a:solidFill>
                <a:latin typeface="Aptos"/>
              </a:defRPr>
            </a:pPr>
            <a:r>
              <a:rPr lang="en-US"/>
              <a:t>LinkedIn History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03576" y="2586654"/>
            <a:ext cx="228233" cy="0"/>
          </a:xfrm>
          <a:prstGeom prst="line">
            <a:avLst/>
          </a:prstGeom>
          <a:ln w="14529">
            <a:solidFill>
              <a:srgbClr val="005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931810" y="1922800"/>
            <a:ext cx="0" cy="663854"/>
          </a:xfrm>
          <a:prstGeom prst="line">
            <a:avLst/>
          </a:prstGeom>
          <a:ln w="14529">
            <a:solidFill>
              <a:srgbClr val="005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192231" y="1653235"/>
            <a:ext cx="1705904" cy="1207008"/>
          </a:xfrm>
          <a:prstGeom prst="rect">
            <a:avLst/>
          </a:prstGeom>
          <a:solidFill>
            <a:srgbClr val="FFFFFF"/>
          </a:solidFill>
          <a:ln w="8941">
            <a:solidFill>
              <a:srgbClr val="4C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92231" y="1653235"/>
            <a:ext cx="1705904" cy="386242"/>
          </a:xfrm>
          <a:prstGeom prst="rect">
            <a:avLst/>
          </a:prstGeom>
          <a:solidFill>
            <a:srgbClr val="002869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88792" y="1709562"/>
            <a:ext cx="1512783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496" b="1">
                <a:solidFill>
                  <a:srgbClr val="FFFFFF"/>
                </a:solidFill>
                <a:latin typeface="Aptos"/>
              </a:defRPr>
            </a:pPr>
            <a:r>
              <a:rPr dirty="0"/>
              <a:t>1  Prepare data</a:t>
            </a:r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304885" y="2144085"/>
            <a:ext cx="1480596" cy="578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264"/>
              </a:spcAft>
              <a:defRPr sz="1320" b="0">
                <a:solidFill>
                  <a:srgbClr val="000000"/>
                </a:solidFill>
                <a:latin typeface="Aptos"/>
              </a:defRPr>
            </a:pPr>
            <a:r>
              <a:rPr lang="en-US"/>
              <a:t>Clean and normalize</a:t>
            </a:r>
          </a:p>
          <a:p>
            <a:pPr>
              <a:spcAft>
                <a:spcPts val="0"/>
              </a:spcAft>
              <a:defRPr sz="1320" b="0">
                <a:solidFill>
                  <a:srgbClr val="000000"/>
                </a:solidFill>
                <a:latin typeface="Aptos"/>
              </a:defRPr>
            </a:pPr>
            <a:r>
              <a:rPr lang="en-US"/>
              <a:t>both input datasets</a:t>
            </a:r>
          </a:p>
        </p:txBody>
      </p:sp>
      <p:sp>
        <p:nvSpPr>
          <p:cNvPr id="38" name="Rectangle 37"/>
          <p:cNvSpPr>
            <a:spLocks/>
          </p:cNvSpPr>
          <p:nvPr/>
        </p:nvSpPr>
        <p:spPr>
          <a:xfrm>
            <a:off x="5386791" y="1653235"/>
            <a:ext cx="1721998" cy="1207008"/>
          </a:xfrm>
          <a:prstGeom prst="rect">
            <a:avLst/>
          </a:prstGeom>
          <a:solidFill>
            <a:srgbClr val="FFFFFF"/>
          </a:solidFill>
          <a:ln w="8941">
            <a:solidFill>
              <a:srgbClr val="4C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386791" y="1653235"/>
            <a:ext cx="1721998" cy="386242"/>
          </a:xfrm>
          <a:prstGeom prst="rect">
            <a:avLst/>
          </a:prstGeom>
          <a:solidFill>
            <a:srgbClr val="002869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3352" y="1709562"/>
            <a:ext cx="1528876" cy="2301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496" b="1">
                <a:solidFill>
                  <a:srgbClr val="FFFFFF"/>
                </a:solidFill>
                <a:latin typeface="Aptos"/>
              </a:defRPr>
            </a:pPr>
            <a:r>
              <a:t>2  </a:t>
            </a:r>
            <a:r>
              <a:rPr lang="en-US"/>
              <a:t>Find pairs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99444" y="2144085"/>
            <a:ext cx="1496689" cy="578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20" b="0">
                <a:solidFill>
                  <a:srgbClr val="000000"/>
                </a:solidFill>
                <a:latin typeface="Aptos"/>
              </a:defRPr>
            </a:pPr>
            <a:r>
              <a:rPr lang="en-US"/>
              <a:t>Find candidate pairs in active cleaned records only.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97443" y="1653235"/>
            <a:ext cx="3701491" cy="1327708"/>
          </a:xfrm>
          <a:prstGeom prst="rect">
            <a:avLst/>
          </a:prstGeom>
          <a:solidFill>
            <a:srgbClr val="FFFFFF"/>
          </a:solidFill>
          <a:ln w="8941">
            <a:solidFill>
              <a:srgbClr val="4C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597443" y="1653235"/>
            <a:ext cx="3701491" cy="386242"/>
          </a:xfrm>
          <a:prstGeom prst="rect">
            <a:avLst/>
          </a:prstGeom>
          <a:solidFill>
            <a:srgbClr val="002869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94004" y="1709562"/>
            <a:ext cx="350836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496" b="1">
                <a:solidFill>
                  <a:srgbClr val="FFFFFF"/>
                </a:solidFill>
                <a:latin typeface="Aptos"/>
              </a:defRPr>
            </a:pPr>
            <a:r>
              <a:t>3  Train matching model</a:t>
            </a:r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7710098" y="2084831"/>
            <a:ext cx="3476182" cy="7589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20" b="0">
                <a:solidFill>
                  <a:srgbClr val="000000"/>
                </a:solidFill>
                <a:latin typeface="Aptos"/>
              </a:defRPr>
            </a:pPr>
            <a:r>
              <a:rPr lang="en-US" b="1"/>
              <a:t>Train on active cleaned records only.</a:t>
            </a:r>
            <a:endParaRPr lang="en-US"/>
          </a:p>
          <a:p>
            <a:pPr>
              <a:lnSpc>
                <a:spcPct val="100000"/>
              </a:lnSpc>
              <a:spcAft>
                <a:spcPts val="300"/>
              </a:spcAft>
              <a:defRPr sz="1320" b="0">
                <a:solidFill>
                  <a:srgbClr val="000000"/>
                </a:solidFill>
                <a:latin typeface="Aptos"/>
              </a:defRPr>
            </a:pPr>
            <a:r>
              <a:rPr lang="en-US"/>
              <a:t>Identity: </a:t>
            </a:r>
            <a:r>
              <a:t>name, email, LinkedIn URL and phone.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  <a:defRPr sz="1320" b="0">
                <a:solidFill>
                  <a:srgbClr val="000000"/>
                </a:solidFill>
                <a:latin typeface="Aptos"/>
              </a:defRPr>
            </a:pPr>
            <a:r>
              <a:rPr lang="en-US"/>
              <a:t>Fellegi–Sunter + Expectation Maximization.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43518" y="3716121"/>
            <a:ext cx="2655417" cy="1931212"/>
          </a:xfrm>
          <a:prstGeom prst="rect">
            <a:avLst/>
          </a:prstGeom>
          <a:solidFill>
            <a:srgbClr val="FFFFFF"/>
          </a:solidFill>
          <a:ln w="8941">
            <a:solidFill>
              <a:srgbClr val="4C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643518" y="3716121"/>
            <a:ext cx="2655417" cy="386242"/>
          </a:xfrm>
          <a:prstGeom prst="rect">
            <a:avLst/>
          </a:prstGeom>
          <a:solidFill>
            <a:srgbClr val="002869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40079" y="3772448"/>
            <a:ext cx="246229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496" b="1">
                <a:solidFill>
                  <a:srgbClr val="FFFFFF"/>
                </a:solidFill>
                <a:latin typeface="Aptos"/>
              </a:defRPr>
            </a:pPr>
            <a:r>
              <a:t>4  Score candidates</a:t>
            </a:r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8756172" y="4142232"/>
            <a:ext cx="2430108" cy="136794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20" b="0">
                <a:solidFill>
                  <a:srgbClr val="000000"/>
                </a:solidFill>
                <a:latin typeface="Aptos"/>
              </a:defRPr>
            </a:pPr>
            <a:r>
              <a:rPr lang="en-US" b="1"/>
              <a:t>Same model + blocking in both runs.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  <a:defRPr sz="1320" b="0">
                <a:solidFill>
                  <a:srgbClr val="000000"/>
                </a:solidFill>
                <a:latin typeface="Aptos"/>
              </a:defRPr>
            </a:pPr>
            <a:r>
              <a:rPr lang="en-US"/>
              <a:t>Active only: duplicate / need review</a:t>
            </a:r>
            <a:r>
              <a:t>.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  <a:defRPr sz="1320" b="0">
                <a:solidFill>
                  <a:srgbClr val="000000"/>
                </a:solidFill>
                <a:latin typeface="Aptos"/>
              </a:defRPr>
            </a:pPr>
            <a:r>
              <a:rPr lang="en-US"/>
              <a:t>Active + inactive: journey links only. No duplicates reported</a:t>
            </a:r>
            <a:r>
              <a:t>.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  <a:defRPr sz="1320" b="0">
                <a:solidFill>
                  <a:srgbClr val="000000"/>
                </a:solidFill>
                <a:latin typeface="Aptos"/>
              </a:defRPr>
            </a:pPr>
            <a:r>
              <a:rPr lang="en-US"/>
              <a:t>Output:</a:t>
            </a:r>
            <a:r>
              <a:t> match probabilities</a:t>
            </a:r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5386791" y="3716121"/>
            <a:ext cx="2695651" cy="1931212"/>
          </a:xfrm>
          <a:prstGeom prst="rect">
            <a:avLst/>
          </a:prstGeom>
          <a:solidFill>
            <a:srgbClr val="FFFFFF"/>
          </a:solidFill>
          <a:ln w="8941">
            <a:solidFill>
              <a:srgbClr val="4C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386791" y="3716121"/>
            <a:ext cx="2695651" cy="386242"/>
          </a:xfrm>
          <a:prstGeom prst="rect">
            <a:avLst/>
          </a:prstGeom>
          <a:solidFill>
            <a:srgbClr val="002869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3352" y="3772448"/>
            <a:ext cx="250252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496" b="1">
                <a:solidFill>
                  <a:srgbClr val="FFFFFF"/>
                </a:solidFill>
                <a:latin typeface="Aptos"/>
              </a:defRPr>
            </a:pPr>
            <a:r>
              <a:t>5  Classify matches</a:t>
            </a:r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5499444" y="4142232"/>
            <a:ext cx="2470343" cy="136794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76" b="0">
                <a:solidFill>
                  <a:srgbClr val="000000"/>
                </a:solidFill>
                <a:latin typeface="Aptos"/>
              </a:defRPr>
            </a:pPr>
            <a:r>
              <a:rPr lang="en-US" b="1" dirty="0"/>
              <a:t>Both runs: same thresholds + account rules.</a:t>
            </a:r>
            <a:endParaRPr lang="en-US" dirty="0"/>
          </a:p>
          <a:p>
            <a:pPr>
              <a:lnSpc>
                <a:spcPct val="100000"/>
              </a:lnSpc>
              <a:spcAft>
                <a:spcPts val="300"/>
              </a:spcAft>
              <a:defRPr sz="1276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Set thresholds</a:t>
            </a:r>
            <a:r>
              <a:rPr dirty="0"/>
              <a:t> </a:t>
            </a:r>
            <a:r>
              <a:rPr lang="en-US" dirty="0"/>
              <a:t>via </a:t>
            </a:r>
            <a:r>
              <a:rPr dirty="0"/>
              <a:t>probability spot checks.</a:t>
            </a:r>
            <a:endParaRPr lang="en-US" dirty="0"/>
          </a:p>
          <a:p>
            <a:pPr>
              <a:lnSpc>
                <a:spcPct val="100000"/>
              </a:lnSpc>
              <a:spcAft>
                <a:spcPts val="0"/>
              </a:spcAft>
              <a:defRPr sz="1276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Rules:</a:t>
            </a:r>
            <a:r>
              <a:rPr dirty="0"/>
              <a:t> master ID, account ID, exact attribute matches and fuzzy account names.</a:t>
            </a:r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530193" y="3772448"/>
            <a:ext cx="1303568" cy="402336"/>
          </a:xfrm>
          <a:prstGeom prst="rect">
            <a:avLst/>
          </a:prstGeom>
          <a:solidFill>
            <a:srgbClr val="FFFFFF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02614" y="3869009"/>
            <a:ext cx="1166774" cy="189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232" b="1">
                <a:solidFill>
                  <a:srgbClr val="000000"/>
                </a:solidFill>
                <a:latin typeface="Aptos"/>
              </a:defRPr>
            </a:pPr>
            <a:r>
              <a:t>Duplicate</a:t>
            </a:r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530193" y="4231111"/>
            <a:ext cx="1303568" cy="402336"/>
          </a:xfrm>
          <a:prstGeom prst="rect">
            <a:avLst/>
          </a:prstGeom>
          <a:solidFill>
            <a:srgbClr val="FFFFFF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02614" y="4327672"/>
            <a:ext cx="1166774" cy="189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232" b="1">
                <a:solidFill>
                  <a:srgbClr val="000000"/>
                </a:solidFill>
                <a:latin typeface="Aptos"/>
              </a:defRPr>
            </a:pPr>
            <a:r>
              <a:t>Need review</a:t>
            </a:r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3530193" y="4689774"/>
            <a:ext cx="1303568" cy="402336"/>
          </a:xfrm>
          <a:prstGeom prst="rect">
            <a:avLst/>
          </a:prstGeom>
          <a:solidFill>
            <a:srgbClr val="0057AF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02614" y="4786335"/>
            <a:ext cx="1166774" cy="217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232" b="1">
                <a:solidFill>
                  <a:srgbClr val="FFFFFF"/>
                </a:solidFill>
                <a:latin typeface="Aptos"/>
              </a:defRPr>
            </a:pPr>
            <a:r>
              <a:t>Journey link</a:t>
            </a:r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3530193" y="5148437"/>
            <a:ext cx="1303568" cy="402336"/>
          </a:xfrm>
          <a:prstGeom prst="rect">
            <a:avLst/>
          </a:prstGeom>
          <a:solidFill>
            <a:srgbClr val="FFFFFF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02614" y="5244998"/>
            <a:ext cx="1166774" cy="189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232" b="1">
                <a:solidFill>
                  <a:srgbClr val="000000"/>
                </a:solidFill>
                <a:latin typeface="Aptos"/>
              </a:defRPr>
            </a:pPr>
            <a:r>
              <a:t>No match</a:t>
            </a:r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852830" y="3716121"/>
            <a:ext cx="2269175" cy="1931212"/>
          </a:xfrm>
          <a:prstGeom prst="rect">
            <a:avLst/>
          </a:prstGeom>
          <a:solidFill>
            <a:srgbClr val="FFFFFF"/>
          </a:solidFill>
          <a:ln w="8941">
            <a:solidFill>
              <a:srgbClr val="4C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52830" y="3716121"/>
            <a:ext cx="2269175" cy="386242"/>
          </a:xfrm>
          <a:prstGeom prst="rect">
            <a:avLst/>
          </a:prstGeom>
          <a:solidFill>
            <a:srgbClr val="002869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9391" y="3772448"/>
            <a:ext cx="2076053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496" b="1">
                <a:solidFill>
                  <a:srgbClr val="FFFFFF"/>
                </a:solidFill>
                <a:latin typeface="Aptos"/>
              </a:defRPr>
            </a:pPr>
            <a:r>
              <a:t>6  Corroborate journey</a:t>
            </a:r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965484" y="4190878"/>
            <a:ext cx="2043866" cy="13192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352"/>
              </a:spcAft>
              <a:defRPr sz="1276" b="0">
                <a:solidFill>
                  <a:srgbClr val="000000"/>
                </a:solidFill>
                <a:latin typeface="Aptos"/>
              </a:defRPr>
            </a:pPr>
            <a:r>
              <a:rPr lang="en-US" b="1"/>
              <a:t>Compare</a:t>
            </a:r>
            <a:r>
              <a:t> LinkedIn profile and account names.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  <a:defRPr sz="1276" b="0">
                <a:solidFill>
                  <a:srgbClr val="000000"/>
                </a:solidFill>
                <a:latin typeface="Aptos"/>
              </a:defRPr>
            </a:pPr>
            <a:r>
              <a:rPr lang="en-US" b="1"/>
              <a:t>Check</a:t>
            </a:r>
            <a:r>
              <a:t> contact creation dates </a:t>
            </a:r>
            <a:r>
              <a:rPr lang="en-US"/>
              <a:t>against </a:t>
            </a:r>
            <a:r>
              <a:t>job start/end dates.</a:t>
            </a:r>
            <a:endParaRPr lang="en-US"/>
          </a:p>
        </p:txBody>
      </p:sp>
      <p:sp>
        <p:nvSpPr>
          <p:cNvPr id="67" name="Corroboration output label"/>
          <p:cNvSpPr txBox="1"/>
          <p:nvPr/>
        </p:nvSpPr>
        <p:spPr>
          <a:xfrm>
            <a:off x="852830" y="5888736"/>
            <a:ext cx="2373782" cy="3634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4"/>
              </a:spcAft>
              <a:defRPr sz="1056" b="1">
                <a:solidFill>
                  <a:srgbClr val="5A798C"/>
                </a:solidFill>
                <a:latin typeface="Aptos"/>
              </a:defRPr>
            </a:pPr>
            <a:r>
              <a:t>LinkedIn-corroborated
journey link pairs</a:t>
            </a:r>
            <a:endParaRPr lang="en-US"/>
          </a:p>
        </p:txBody>
      </p:sp>
      <p:cxnSp>
        <p:nvCxnSpPr>
          <p:cNvPr id="68" name="Connector 67"/>
          <p:cNvCxnSpPr/>
          <p:nvPr/>
        </p:nvCxnSpPr>
        <p:spPr>
          <a:xfrm>
            <a:off x="1987417" y="5647334"/>
            <a:ext cx="0" cy="112654"/>
          </a:xfrm>
          <a:prstGeom prst="line">
            <a:avLst/>
          </a:prstGeom>
          <a:ln w="14529">
            <a:solidFill>
              <a:srgbClr val="005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987417" y="5759988"/>
            <a:ext cx="8466612" cy="0"/>
          </a:xfrm>
          <a:prstGeom prst="line">
            <a:avLst/>
          </a:prstGeom>
          <a:ln w="14529">
            <a:solidFill>
              <a:srgbClr val="005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orroboration class Confirmed"/>
          <p:cNvSpPr/>
          <p:nvPr/>
        </p:nvSpPr>
        <p:spPr>
          <a:xfrm>
            <a:off x="3484473" y="5985296"/>
            <a:ext cx="1770278" cy="370149"/>
          </a:xfrm>
          <a:prstGeom prst="rect">
            <a:avLst/>
          </a:prstGeom>
          <a:solidFill>
            <a:srgbClr val="FFFFFF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Corroboration label Confirmed"/>
          <p:cNvSpPr txBox="1"/>
          <p:nvPr/>
        </p:nvSpPr>
        <p:spPr>
          <a:xfrm>
            <a:off x="3556894" y="6053693"/>
            <a:ext cx="1625437" cy="189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232" b="1">
                <a:solidFill>
                  <a:srgbClr val="000000"/>
                </a:solidFill>
                <a:latin typeface="Aptos"/>
              </a:defRPr>
            </a:pPr>
            <a:r>
              <a:t>Confirmed</a:t>
            </a:r>
            <a:endParaRPr lang="en-US"/>
          </a:p>
        </p:txBody>
      </p:sp>
      <p:cxnSp>
        <p:nvCxnSpPr>
          <p:cNvPr id="72" name="Connector 71"/>
          <p:cNvCxnSpPr/>
          <p:nvPr/>
        </p:nvCxnSpPr>
        <p:spPr>
          <a:xfrm>
            <a:off x="4369612" y="5759988"/>
            <a:ext cx="0" cy="225308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orroboration class Ambiguous"/>
          <p:cNvSpPr/>
          <p:nvPr/>
        </p:nvSpPr>
        <p:spPr>
          <a:xfrm>
            <a:off x="5512612" y="5985296"/>
            <a:ext cx="1770278" cy="370149"/>
          </a:xfrm>
          <a:prstGeom prst="rect">
            <a:avLst/>
          </a:prstGeom>
          <a:solidFill>
            <a:srgbClr val="FFFFFF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Corroboration label Ambiguous"/>
          <p:cNvSpPr txBox="1"/>
          <p:nvPr/>
        </p:nvSpPr>
        <p:spPr>
          <a:xfrm>
            <a:off x="5585033" y="6053693"/>
            <a:ext cx="1625437" cy="189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232" b="1">
                <a:solidFill>
                  <a:srgbClr val="000000"/>
                </a:solidFill>
                <a:latin typeface="Aptos"/>
              </a:defRPr>
            </a:pPr>
            <a:r>
              <a:t>Ambiguous</a:t>
            </a:r>
            <a:endParaRPr lang="en-US"/>
          </a:p>
        </p:txBody>
      </p:sp>
      <p:cxnSp>
        <p:nvCxnSpPr>
          <p:cNvPr id="75" name="Connector 74"/>
          <p:cNvCxnSpPr/>
          <p:nvPr/>
        </p:nvCxnSpPr>
        <p:spPr>
          <a:xfrm>
            <a:off x="6397752" y="5759988"/>
            <a:ext cx="0" cy="225308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Corroboration class Contradicted"/>
          <p:cNvSpPr/>
          <p:nvPr/>
        </p:nvSpPr>
        <p:spPr>
          <a:xfrm>
            <a:off x="7540752" y="5985296"/>
            <a:ext cx="1770278" cy="370149"/>
          </a:xfrm>
          <a:prstGeom prst="rect">
            <a:avLst/>
          </a:prstGeom>
          <a:solidFill>
            <a:srgbClr val="FFFFFF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Corroboration label Contradicted"/>
          <p:cNvSpPr txBox="1"/>
          <p:nvPr/>
        </p:nvSpPr>
        <p:spPr>
          <a:xfrm>
            <a:off x="7613172" y="6053693"/>
            <a:ext cx="1625437" cy="189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232" b="1">
                <a:solidFill>
                  <a:srgbClr val="000000"/>
                </a:solidFill>
                <a:latin typeface="Aptos"/>
              </a:defRPr>
            </a:pPr>
            <a:r>
              <a:t>Contradicted</a:t>
            </a:r>
            <a:endParaRPr lang="en-US"/>
          </a:p>
        </p:txBody>
      </p:sp>
      <p:cxnSp>
        <p:nvCxnSpPr>
          <p:cNvPr id="78" name="Connector 77"/>
          <p:cNvCxnSpPr/>
          <p:nvPr/>
        </p:nvCxnSpPr>
        <p:spPr>
          <a:xfrm>
            <a:off x="8425891" y="5759988"/>
            <a:ext cx="0" cy="225308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orroboration class No evidence"/>
          <p:cNvSpPr/>
          <p:nvPr/>
        </p:nvSpPr>
        <p:spPr>
          <a:xfrm>
            <a:off x="9568891" y="5985296"/>
            <a:ext cx="1770278" cy="370149"/>
          </a:xfrm>
          <a:prstGeom prst="rect">
            <a:avLst/>
          </a:prstGeom>
          <a:solidFill>
            <a:srgbClr val="FFFFFF"/>
          </a:solidFill>
          <a:ln w="8941">
            <a:solidFill>
              <a:srgbClr val="005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Corroboration label No evidence"/>
          <p:cNvSpPr txBox="1"/>
          <p:nvPr/>
        </p:nvSpPr>
        <p:spPr>
          <a:xfrm>
            <a:off x="9641311" y="6053693"/>
            <a:ext cx="1625437" cy="189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232" b="1">
                <a:solidFill>
                  <a:srgbClr val="000000"/>
                </a:solidFill>
                <a:latin typeface="Aptos"/>
              </a:defRPr>
            </a:pPr>
            <a:r>
              <a:t>No evidence</a:t>
            </a:r>
            <a:endParaRPr lang="en-US"/>
          </a:p>
        </p:txBody>
      </p:sp>
      <p:cxnSp>
        <p:nvCxnSpPr>
          <p:cNvPr id="81" name="Connector 80"/>
          <p:cNvCxnSpPr/>
          <p:nvPr/>
        </p:nvCxnSpPr>
        <p:spPr>
          <a:xfrm>
            <a:off x="10454030" y="5759988"/>
            <a:ext cx="0" cy="225308"/>
          </a:xfrm>
          <a:prstGeom prst="line">
            <a:avLst/>
          </a:prstGeom>
          <a:ln w="14529">
            <a:solidFill>
              <a:srgbClr val="0057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F5DE5-6C96-5EC8-C99D-DD4AFAA33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5760"/>
            <a:ext cx="10835640" cy="594360"/>
          </a:xfrm>
        </p:spPr>
        <p:txBody>
          <a:bodyPr wrap="square" lIns="0" tIns="0" rIns="0" bIns="0">
            <a:normAutofit fontScale="90000"/>
          </a:bodyPr>
          <a:lstStyle/>
          <a:p>
            <a:pPr marL="0" indent="0">
              <a:lnSpc>
                <a:spcPct val="115000"/>
              </a:lnSpc>
              <a:spcAft>
                <a:spcPts val="1500"/>
              </a:spcAft>
              <a:buNone/>
            </a:pPr>
            <a:r>
              <a:rPr lang="en-US" sz="3600" b="0" dirty="0">
                <a:solidFill>
                  <a:srgbClr val="002869"/>
                </a:solidFill>
                <a:latin typeface="Aptos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339E-80DB-735B-913E-D09B03995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1389888"/>
            <a:ext cx="10451592" cy="585216"/>
          </a:xfrm>
          <a:solidFill>
            <a:srgbClr val="EAF3FB"/>
          </a:solidFill>
          <a:ln>
            <a:noFill/>
          </a:ln>
        </p:spPr>
        <p:txBody>
          <a:bodyPr wrap="square" lIns="155448" tIns="0" rIns="155448" bIns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2869"/>
                </a:solidFill>
                <a:latin typeface="Aptos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57984"/>
            <a:ext cx="10058400" cy="336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5000"/>
              </a:lnSpc>
              <a:spcAft>
                <a:spcPts val="1500"/>
              </a:spcAft>
              <a:buNone/>
            </a:pPr>
            <a:r>
              <a:rPr lang="en-US" sz="2000" b="0">
                <a:solidFill>
                  <a:srgbClr val="000000"/>
                </a:solidFill>
                <a:latin typeface="Aptos"/>
              </a:rPr>
              <a:t>Prepare and share duplicate-contact and journey-link results for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015734"/>
            <a:ext cx="10451592" cy="36933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txBody>
          <a:bodyPr wrap="square" lIns="155448" tIns="0" rIns="155448" bIns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2869"/>
                </a:solidFill>
                <a:latin typeface="Aptos"/>
              </a:rPr>
              <a:t>Algorithm Accuracy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4663440" cy="336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5000"/>
              </a:lnSpc>
              <a:spcAft>
                <a:spcPts val="1500"/>
              </a:spcAft>
              <a:buNone/>
            </a:pPr>
            <a:r>
              <a:rPr lang="en-US" sz="2000" b="1">
                <a:solidFill>
                  <a:srgbClr val="002869"/>
                </a:solidFill>
                <a:latin typeface="Aptos"/>
              </a:rPr>
              <a:t>Identity Matching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4663440" cy="14056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900" b="0">
                <a:solidFill>
                  <a:srgbClr val="000000"/>
                </a:solidFill>
                <a:latin typeface="Aptos"/>
              </a:rPr>
              <a:t>Find more potential journey links </a:t>
            </a:r>
            <a:r>
              <a:rPr lang="en-US" sz="1900" b="0" dirty="0">
                <a:solidFill>
                  <a:srgbClr val="000000"/>
                </a:solidFill>
                <a:latin typeface="Aptos"/>
              </a:rPr>
              <a:t>by including previously excluded </a:t>
            </a:r>
            <a:r>
              <a:rPr lang="en-US" sz="1900" b="0">
                <a:solidFill>
                  <a:srgbClr val="000000"/>
                </a:solidFill>
                <a:latin typeface="Aptos"/>
              </a:rPr>
              <a:t>record pairs.</a:t>
            </a:r>
            <a:endParaRPr lang="en-US" sz="1900" b="0" dirty="0">
              <a:solidFill>
                <a:srgbClr val="000000"/>
              </a:solidFill>
              <a:latin typeface="Aptos"/>
            </a:endParaRPr>
          </a:p>
          <a:p>
            <a:pPr marL="0" indent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900" b="0">
                <a:solidFill>
                  <a:srgbClr val="000000"/>
                </a:solidFill>
                <a:latin typeface="Aptos"/>
              </a:rPr>
              <a:t>Use </a:t>
            </a:r>
            <a:r>
              <a:rPr lang="en-US" sz="1900" b="0" dirty="0">
                <a:solidFill>
                  <a:srgbClr val="000000"/>
                </a:solidFill>
                <a:latin typeface="Aptos"/>
              </a:rPr>
              <a:t>labeled </a:t>
            </a:r>
            <a:r>
              <a:rPr lang="en-US" sz="1900" b="0">
                <a:solidFill>
                  <a:srgbClr val="000000"/>
                </a:solidFill>
                <a:latin typeface="Aptos"/>
              </a:rPr>
              <a:t>validation </a:t>
            </a:r>
            <a:r>
              <a:rPr lang="en-US" sz="1900" b="0" dirty="0">
                <a:solidFill>
                  <a:srgbClr val="000000"/>
                </a:solidFill>
                <a:latin typeface="Aptos"/>
              </a:rPr>
              <a:t>data </a:t>
            </a:r>
            <a:r>
              <a:rPr lang="en-US" sz="1900" b="0">
                <a:solidFill>
                  <a:srgbClr val="000000"/>
                </a:solidFill>
                <a:latin typeface="Aptos"/>
              </a:rPr>
              <a:t>to support semi-supervised learning.</a:t>
            </a:r>
            <a:endParaRPr lang="en-US" sz="1900" b="0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45936" y="3794760"/>
            <a:ext cx="4956048" cy="336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5000"/>
              </a:lnSpc>
              <a:spcAft>
                <a:spcPts val="1500"/>
              </a:spcAft>
              <a:buNone/>
            </a:pPr>
            <a:r>
              <a:rPr lang="en-US" sz="2000" b="1">
                <a:solidFill>
                  <a:srgbClr val="002869"/>
                </a:solidFill>
                <a:latin typeface="Aptos"/>
              </a:rPr>
              <a:t>Account Matching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5936" y="4389120"/>
            <a:ext cx="4956048" cy="21911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900" b="0">
                <a:solidFill>
                  <a:srgbClr val="000000"/>
                </a:solidFill>
                <a:latin typeface="Aptos"/>
              </a:rPr>
              <a:t>Use company alias mapping to link alternative company names to the same account.</a:t>
            </a:r>
          </a:p>
          <a:p>
            <a:pPr marL="0" indent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900" b="0">
                <a:solidFill>
                  <a:srgbClr val="000000"/>
                </a:solidFill>
                <a:latin typeface="Aptos"/>
              </a:rPr>
              <a:t>Refine matching rules using labeled validation data.</a:t>
            </a:r>
          </a:p>
          <a:p>
            <a:pPr marL="0" indent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900" b="0">
                <a:solidFill>
                  <a:srgbClr val="000000"/>
                </a:solidFill>
                <a:latin typeface="Aptos"/>
              </a:rPr>
              <a:t>Compare results with the existing Fellegi-Sunter account deduplication model.</a:t>
            </a:r>
          </a:p>
        </p:txBody>
      </p:sp>
    </p:spTree>
    <p:extLst>
      <p:ext uri="{BB962C8B-B14F-4D97-AF65-F5344CB8AC3E}">
        <p14:creationId xmlns:p14="http://schemas.microsoft.com/office/powerpoint/2010/main" val="1819677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2F052B2-BC24-5DEA-31AC-BFC3B5D3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5760"/>
            <a:ext cx="10835640" cy="594360"/>
          </a:xfrm>
        </p:spPr>
        <p:txBody>
          <a:bodyPr wrap="square" lIns="0" tIns="0" rIns="0" bIns="0">
            <a:normAutofit fontScale="90000"/>
          </a:bodyPr>
          <a:lstStyle/>
          <a:p>
            <a:pPr marL="0" indent="0">
              <a:lnSpc>
                <a:spcPct val="115000"/>
              </a:lnSpc>
              <a:spcAft>
                <a:spcPts val="1500"/>
              </a:spcAft>
              <a:buNone/>
            </a:pPr>
            <a:r>
              <a:rPr lang="en-US" sz="3600" b="0" dirty="0">
                <a:solidFill>
                  <a:srgbClr val="002869"/>
                </a:solidFill>
                <a:latin typeface="Aptos"/>
              </a:rPr>
              <a:t>Next Steps</a:t>
            </a:r>
          </a:p>
        </p:txBody>
      </p:sp>
      <p:sp>
        <p:nvSpPr>
          <p:cNvPr id="10" name="Restyled section 10">
            <a:extLst>
              <a:ext uri="{FF2B5EF4-FFF2-40B4-BE49-F238E27FC236}">
                <a16:creationId xmlns:a16="http://schemas.microsoft.com/office/drawing/2014/main" id="{9D13339E-80DB-735B-913E-D09B03995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1261872"/>
            <a:ext cx="10451592" cy="420624"/>
          </a:xfrm>
          <a:solidFill>
            <a:srgbClr val="EAF3FB"/>
          </a:solidFill>
          <a:ln>
            <a:noFill/>
          </a:ln>
        </p:spPr>
        <p:txBody>
          <a:bodyPr wrap="square" lIns="155448" tIns="0" rIns="155448" bIns="0" anchor="ctr">
            <a:noAutofit/>
          </a:bodyPr>
          <a:lstStyle/>
          <a:p>
            <a:pPr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2869"/>
                </a:solidFill>
                <a:latin typeface="Aptos"/>
              </a:rPr>
              <a:t>Validation</a:t>
            </a:r>
          </a:p>
        </p:txBody>
      </p:sp>
      <p:sp>
        <p:nvSpPr>
          <p:cNvPr id="11" name="Restyled section 11"/>
          <p:cNvSpPr txBox="1"/>
          <p:nvPr/>
        </p:nvSpPr>
        <p:spPr>
          <a:xfrm>
            <a:off x="1005840" y="18105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54000" lvl="0" indent="-2286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Aptos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Aptos"/>
              </a:rPr>
              <a:t>Prepare and share duplicate-contact and journey-link results for review.</a:t>
            </a:r>
            <a:endParaRPr lang="en-US" sz="2000" b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" name="Restyled section 12"/>
          <p:cNvSpPr txBox="1"/>
          <p:nvPr/>
        </p:nvSpPr>
        <p:spPr>
          <a:xfrm>
            <a:off x="850392" y="2221992"/>
            <a:ext cx="10451592" cy="420624"/>
          </a:xfrm>
          <a:prstGeom prst="rect">
            <a:avLst/>
          </a:prstGeom>
          <a:solidFill>
            <a:srgbClr val="EAF3FB"/>
          </a:solidFill>
        </p:spPr>
        <p:txBody>
          <a:bodyPr wrap="square" lIns="155448" tIns="0" rIns="155448" bIns="0" anchor="ctr">
            <a:noAutofit/>
          </a:bodyPr>
          <a:lstStyle/>
          <a:p>
            <a:pPr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2869"/>
                </a:solidFill>
                <a:latin typeface="Aptos"/>
              </a:rPr>
              <a:t>Define business-aligned success criteria and acceptance metrics, including:</a:t>
            </a:r>
          </a:p>
        </p:txBody>
      </p:sp>
      <p:sp>
        <p:nvSpPr>
          <p:cNvPr id="13" name="Restyled section 13"/>
          <p:cNvSpPr txBox="1"/>
          <p:nvPr/>
        </p:nvSpPr>
        <p:spPr>
          <a:xfrm>
            <a:off x="1005840" y="2788920"/>
            <a:ext cx="4315968" cy="8961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54000" lvl="0" indent="-2286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Aptos"/>
              <a:buChar char="•"/>
            </a:pPr>
            <a:r>
              <a:rPr lang="en-US" sz="1900" b="0">
                <a:solidFill>
                  <a:srgbClr val="000000"/>
                </a:solidFill>
                <a:latin typeface="Aptos"/>
              </a:rPr>
              <a:t>Duplicate detection performance targets (e.g., precision, recall, FP).</a:t>
            </a:r>
          </a:p>
        </p:txBody>
      </p:sp>
      <p:sp>
        <p:nvSpPr>
          <p:cNvPr id="14" name="Restyled section 14"/>
          <p:cNvSpPr txBox="1"/>
          <p:nvPr/>
        </p:nvSpPr>
        <p:spPr>
          <a:xfrm>
            <a:off x="5705856" y="2788920"/>
            <a:ext cx="5596128" cy="17922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54000" lvl="0" indent="-22860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ptos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Aptos"/>
              </a:rPr>
              <a:t>For unified contact journeys, either:</a:t>
            </a:r>
            <a:endParaRPr lang="en-US" sz="1800" b="0">
              <a:solidFill>
                <a:srgbClr val="000000"/>
              </a:solidFill>
              <a:latin typeface="Aptos"/>
            </a:endParaRPr>
          </a:p>
          <a:p>
            <a:pPr marL="419100" lvl="1" indent="-24130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✓"/>
            </a:pPr>
            <a:r>
              <a:rPr lang="en-US" sz="1800" b="0" dirty="0">
                <a:solidFill>
                  <a:srgbClr val="000000"/>
                </a:solidFill>
                <a:latin typeface="Aptos"/>
              </a:rPr>
              <a:t>Establish target relationship discovery rates (e.g. number or percentage of valid relationships identified), or</a:t>
            </a:r>
            <a:endParaRPr lang="en-US" sz="1800" b="0">
              <a:solidFill>
                <a:srgbClr val="000000"/>
              </a:solidFill>
              <a:latin typeface="Aptos"/>
            </a:endParaRPr>
          </a:p>
          <a:p>
            <a:pPr marL="419100" lvl="1" indent="-241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✓"/>
            </a:pPr>
            <a:r>
              <a:rPr lang="en-US" sz="1800" b="0" dirty="0">
                <a:solidFill>
                  <a:srgbClr val="000000"/>
                </a:solidFill>
                <a:latin typeface="Aptos"/>
              </a:rPr>
              <a:t>Create a ground-truth dataset to objectively measure journey reconstruction accuracy.</a:t>
            </a:r>
            <a:endParaRPr lang="en-US" sz="1800" b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Restyled section 15"/>
          <p:cNvSpPr txBox="1"/>
          <p:nvPr/>
        </p:nvSpPr>
        <p:spPr>
          <a:xfrm>
            <a:off x="850392" y="4645152"/>
            <a:ext cx="10451592" cy="42062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txBody>
          <a:bodyPr wrap="square" lIns="155448" tIns="0" rIns="155448" bIns="0" anchor="ctr">
            <a:noAutofit/>
          </a:bodyPr>
          <a:lstStyle/>
          <a:p>
            <a:pPr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2869"/>
                </a:solidFill>
                <a:latin typeface="Aptos"/>
              </a:rPr>
              <a:t>Incorporate stakeholder feedback and refine the solution</a:t>
            </a:r>
          </a:p>
        </p:txBody>
      </p:sp>
      <p:sp>
        <p:nvSpPr>
          <p:cNvPr id="16" name="Restyled section 16"/>
          <p:cNvSpPr txBox="1"/>
          <p:nvPr/>
        </p:nvSpPr>
        <p:spPr>
          <a:xfrm>
            <a:off x="1005840" y="5193792"/>
            <a:ext cx="10296144" cy="11324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54000" lvl="0" indent="-22860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Aptos"/>
              <a:buChar char="•"/>
            </a:pPr>
            <a:r>
              <a:rPr lang="en-US" sz="1900" b="0">
                <a:solidFill>
                  <a:srgbClr val="000000"/>
                </a:solidFill>
                <a:latin typeface="Aptos"/>
              </a:rPr>
              <a:t>Use labeled validation data to support semi-supervised learning and refining the matching rules.</a:t>
            </a:r>
          </a:p>
          <a:p>
            <a:pPr marL="254000" lvl="0" indent="-22860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Aptos"/>
              <a:buChar char="•"/>
            </a:pPr>
            <a:r>
              <a:rPr lang="en-US" sz="1900" b="0">
                <a:solidFill>
                  <a:srgbClr val="000000"/>
                </a:solidFill>
                <a:latin typeface="Aptos"/>
              </a:rPr>
              <a:t>Find more potential journey links by including any previously excluding record pairs.</a:t>
            </a:r>
          </a:p>
          <a:p>
            <a:pPr marL="254000" lvl="0" indent="-2286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Aptos"/>
              <a:buChar char="•"/>
            </a:pPr>
            <a:r>
              <a:rPr lang="en-US" sz="1900" b="0">
                <a:solidFill>
                  <a:srgbClr val="000000"/>
                </a:solidFill>
                <a:latin typeface="Aptos"/>
              </a:rPr>
              <a:t>Use company alias mapping to link alternative company names to the same account.</a:t>
            </a:r>
          </a:p>
        </p:txBody>
      </p:sp>
    </p:spTree>
    <p:extLst>
      <p:ext uri="{BB962C8B-B14F-4D97-AF65-F5344CB8AC3E}">
        <p14:creationId xmlns:p14="http://schemas.microsoft.com/office/powerpoint/2010/main" val="3300056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840</Words>
  <Application>Microsoft Office PowerPoint</Application>
  <PresentationFormat>Widescreen</PresentationFormat>
  <Paragraphs>125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&lt;Project Name&gt; - PoC</vt:lpstr>
      <vt:lpstr>Data Sources &amp; Scope</vt:lpstr>
      <vt:lpstr>Solution – High Level Design</vt:lpstr>
      <vt:lpstr>Contact Matching and Engagement Workflow</vt:lpstr>
      <vt:lpstr>Next Steps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Eternal Centurion</dc:creator>
  <cp:lastModifiedBy>Eternal Centurion</cp:lastModifiedBy>
  <cp:revision>3</cp:revision>
  <dcterms:created xsi:type="dcterms:W3CDTF">2026-10-01T12:35:26Z</dcterms:created>
  <dcterms:modified xsi:type="dcterms:W3CDTF">2026-10-05T08:57:51Z</dcterms:modified>
</cp:coreProperties>
</file>